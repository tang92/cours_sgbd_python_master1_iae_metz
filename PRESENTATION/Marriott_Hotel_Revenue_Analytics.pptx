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grandir" panose="020B0604020202020204" charset="0"/>
      <p:regular r:id="rId9"/>
    </p:embeddedFont>
    <p:embeddedFont>
      <p:font typeface="Agrandir Bold" panose="020B0604020202020204" charset="0"/>
      <p:regular r:id="rId10"/>
    </p:embeddedFont>
    <p:embeddedFont>
      <p:font typeface="Agrandir Bold Italics" panose="020B0604020202020204" charset="0"/>
      <p:regular r:id="rId11"/>
    </p:embeddedFont>
    <p:embeddedFont>
      <p:font typeface="Agrandir Italics" panose="020B0604020202020204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9184" cy="10287000"/>
            <a:chOff x="0" y="0"/>
            <a:chExt cx="438912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8912" cy="13716000"/>
            </a:xfrm>
            <a:custGeom>
              <a:avLst/>
              <a:gdLst/>
              <a:ahLst/>
              <a:cxnLst/>
              <a:rect l="l" t="t" r="r" b="b"/>
              <a:pathLst>
                <a:path w="438912" h="13716000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05840" y="1645920"/>
            <a:ext cx="12801600" cy="1463040"/>
            <a:chOff x="0" y="0"/>
            <a:chExt cx="17068800" cy="1950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068800" cy="1950720"/>
            </a:xfrm>
            <a:custGeom>
              <a:avLst/>
              <a:gdLst/>
              <a:ahLst/>
              <a:cxnLst/>
              <a:rect l="l" t="t" r="r" b="b"/>
              <a:pathLst>
                <a:path w="17068800" h="1950720">
                  <a:moveTo>
                    <a:pt x="0" y="0"/>
                  </a:moveTo>
                  <a:lnTo>
                    <a:pt x="17068800" y="0"/>
                  </a:lnTo>
                  <a:lnTo>
                    <a:pt x="17068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80975"/>
              <a:ext cx="17068800" cy="21316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59"/>
                </a:lnSpc>
              </a:pPr>
              <a:r>
                <a:rPr lang="en-US" sz="68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Marriott International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5840" y="3017520"/>
            <a:ext cx="12801600" cy="1280160"/>
            <a:chOff x="0" y="0"/>
            <a:chExt cx="1706880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68800" cy="1706880"/>
            </a:xfrm>
            <a:custGeom>
              <a:avLst/>
              <a:gdLst/>
              <a:ahLst/>
              <a:cxnLst/>
              <a:rect l="l" t="t" r="r" b="b"/>
              <a:pathLst>
                <a:path w="17068800" h="1706880">
                  <a:moveTo>
                    <a:pt x="0" y="0"/>
                  </a:moveTo>
                  <a:lnTo>
                    <a:pt x="17068800" y="0"/>
                  </a:lnTo>
                  <a:lnTo>
                    <a:pt x="17068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42875"/>
              <a:ext cx="170688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C9A84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Hotel Revenue Analytics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5840" y="4389120"/>
            <a:ext cx="11887200" cy="73152"/>
            <a:chOff x="0" y="0"/>
            <a:chExt cx="15849600" cy="975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849600" cy="97536"/>
            </a:xfrm>
            <a:custGeom>
              <a:avLst/>
              <a:gdLst/>
              <a:ahLst/>
              <a:cxnLst/>
              <a:rect l="l" t="t" r="r" b="b"/>
              <a:pathLst>
                <a:path w="15849600" h="97536">
                  <a:moveTo>
                    <a:pt x="0" y="0"/>
                  </a:moveTo>
                  <a:lnTo>
                    <a:pt x="15849600" y="0"/>
                  </a:lnTo>
                  <a:lnTo>
                    <a:pt x="158496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4663440"/>
            <a:ext cx="12112902" cy="2011680"/>
            <a:chOff x="0" y="0"/>
            <a:chExt cx="16150536" cy="26822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150535" cy="2682240"/>
            </a:xfrm>
            <a:custGeom>
              <a:avLst/>
              <a:gdLst/>
              <a:ahLst/>
              <a:cxnLst/>
              <a:rect l="l" t="t" r="r" b="b"/>
              <a:pathLst>
                <a:path w="16150535" h="2682240">
                  <a:moveTo>
                    <a:pt x="0" y="0"/>
                  </a:moveTo>
                  <a:lnTo>
                    <a:pt x="16150535" y="0"/>
                  </a:lnTo>
                  <a:lnTo>
                    <a:pt x="16150535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166" r="-17764" b="-8816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16150536" cy="2767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E8E4DC"/>
                  </a:solidFill>
                  <a:latin typeface="Agrandir Italics"/>
                  <a:ea typeface="Agrandir Italics"/>
                  <a:cs typeface="Agrandir Italics"/>
                  <a:sym typeface="Agrandir Italics"/>
                </a:rPr>
                <a:t>How can reservation data be structured and</a:t>
              </a:r>
            </a:p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E8E4DC"/>
                  </a:solidFill>
                  <a:latin typeface="Agrandir Italics"/>
                  <a:ea typeface="Agrandir Italics"/>
                  <a:cs typeface="Agrandir Italics"/>
                  <a:sym typeface="Agrandir Italics"/>
                </a:rPr>
                <a:t>exploited to analyse and improve hotel profitability?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05840" y="8778240"/>
            <a:ext cx="16459200" cy="731520"/>
            <a:chOff x="0" y="0"/>
            <a:chExt cx="21945600" cy="9753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9A84C"/>
                  </a:solidFill>
                  <a:latin typeface="Agrandir"/>
                  <a:ea typeface="Agrandir"/>
                  <a:cs typeface="Agrandir"/>
                  <a:sym typeface="Agrandir"/>
                </a:rPr>
                <a:t>Course: </a:t>
              </a:r>
              <a:r>
                <a:rPr lang="en-US" sz="2200">
                  <a:solidFill>
                    <a:srgbClr val="E8E4DC"/>
                  </a:solidFill>
                  <a:latin typeface="Agrandir"/>
                  <a:ea typeface="Agrandir"/>
                  <a:cs typeface="Agrandir"/>
                  <a:sym typeface="Agrandir"/>
                </a:rPr>
                <a:t>SGBD_Python – Master 1 Finance IAE Metz   |   April 2026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189041" y="418297"/>
            <a:ext cx="1789587" cy="1006643"/>
          </a:xfrm>
          <a:custGeom>
            <a:avLst/>
            <a:gdLst/>
            <a:ahLst/>
            <a:cxnLst/>
            <a:rect l="l" t="t" r="r" b="b"/>
            <a:pathLst>
              <a:path w="1789587" h="1006643">
                <a:moveTo>
                  <a:pt x="0" y="0"/>
                </a:moveTo>
                <a:lnTo>
                  <a:pt x="1789587" y="0"/>
                </a:lnTo>
                <a:lnTo>
                  <a:pt x="1789587" y="1006643"/>
                </a:lnTo>
                <a:lnTo>
                  <a:pt x="0" y="1006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20240"/>
            <a:chOff x="0" y="0"/>
            <a:chExt cx="24384000" cy="2560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60320"/>
            </a:xfrm>
            <a:custGeom>
              <a:avLst/>
              <a:gdLst/>
              <a:ahLst/>
              <a:cxnLst/>
              <a:rect l="l" t="t" r="r" b="b"/>
              <a:pathLst>
                <a:path w="24384000" h="2560320">
                  <a:moveTo>
                    <a:pt x="0" y="0"/>
                  </a:moveTo>
                  <a:lnTo>
                    <a:pt x="24384000" y="0"/>
                  </a:lnTo>
                  <a:lnTo>
                    <a:pt x="243840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B2A4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920240"/>
            <a:ext cx="18288000" cy="109728"/>
            <a:chOff x="0" y="0"/>
            <a:chExt cx="24384000" cy="1463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46304"/>
            </a:xfrm>
            <a:custGeom>
              <a:avLst/>
              <a:gdLst/>
              <a:ahLst/>
              <a:cxnLst/>
              <a:rect l="l" t="t" r="r" b="b"/>
              <a:pathLst>
                <a:path w="24384000" h="146304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0"/>
            <a:ext cx="16824960" cy="1920240"/>
            <a:chOff x="0" y="0"/>
            <a:chExt cx="22433280" cy="2560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433280" cy="2560320"/>
            </a:xfrm>
            <a:custGeom>
              <a:avLst/>
              <a:gdLst/>
              <a:ahLst/>
              <a:cxnLst/>
              <a:rect l="l" t="t" r="r" b="b"/>
              <a:pathLst>
                <a:path w="22433280" h="2560320">
                  <a:moveTo>
                    <a:pt x="0" y="0"/>
                  </a:moveTo>
                  <a:lnTo>
                    <a:pt x="22433280" y="0"/>
                  </a:lnTo>
                  <a:lnTo>
                    <a:pt x="224332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726" b="-1207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42875"/>
              <a:ext cx="22433280" cy="2703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Marriott International – Company Overview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8640" y="2468880"/>
            <a:ext cx="4114800" cy="4023360"/>
            <a:chOff x="0" y="0"/>
            <a:chExt cx="5486400" cy="53644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86400" cy="5364480"/>
            </a:xfrm>
            <a:custGeom>
              <a:avLst/>
              <a:gdLst/>
              <a:ahLst/>
              <a:cxnLst/>
              <a:rect l="l" t="t" r="r" b="b"/>
              <a:pathLst>
                <a:path w="5486400" h="5364480">
                  <a:moveTo>
                    <a:pt x="0" y="0"/>
                  </a:moveTo>
                  <a:lnTo>
                    <a:pt x="5486400" y="0"/>
                  </a:lnTo>
                  <a:lnTo>
                    <a:pt x="54864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2468880"/>
            <a:ext cx="4114800" cy="128016"/>
            <a:chOff x="0" y="0"/>
            <a:chExt cx="5486400" cy="1706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170688"/>
            </a:xfrm>
            <a:custGeom>
              <a:avLst/>
              <a:gdLst/>
              <a:ahLst/>
              <a:cxnLst/>
              <a:rect l="l" t="t" r="r" b="b"/>
              <a:pathLst>
                <a:path w="5486400" h="170688">
                  <a:moveTo>
                    <a:pt x="0" y="0"/>
                  </a:moveTo>
                  <a:lnTo>
                    <a:pt x="5486400" y="0"/>
                  </a:lnTo>
                  <a:lnTo>
                    <a:pt x="54864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48640" y="2743200"/>
            <a:ext cx="4114800" cy="1371600"/>
            <a:chOff x="0" y="0"/>
            <a:chExt cx="5486400" cy="1828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486400" cy="1828800"/>
            </a:xfrm>
            <a:custGeom>
              <a:avLst/>
              <a:gdLst/>
              <a:ahLst/>
              <a:cxnLst/>
              <a:rect l="l" t="t" r="r" b="b"/>
              <a:pathLst>
                <a:path w="5486400" h="18288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71450"/>
              <a:ext cx="5486400" cy="200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30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8640" y="4023360"/>
            <a:ext cx="4114800" cy="548640"/>
            <a:chOff x="0" y="0"/>
            <a:chExt cx="54864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0" cy="731520"/>
            </a:xfrm>
            <a:custGeom>
              <a:avLst/>
              <a:gdLst/>
              <a:ahLst/>
              <a:cxnLst/>
              <a:rect l="l" t="t" r="r" b="b"/>
              <a:pathLst>
                <a:path w="5486400" h="73152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5486400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C9A84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brands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8640" y="4572000"/>
            <a:ext cx="4114800" cy="571500"/>
            <a:chOff x="0" y="0"/>
            <a:chExt cx="5486400" cy="762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86400" cy="762000"/>
            </a:xfrm>
            <a:custGeom>
              <a:avLst/>
              <a:gdLst/>
              <a:ahLst/>
              <a:cxnLst/>
              <a:rect l="l" t="t" r="r" b="b"/>
              <a:pathLst>
                <a:path w="5486400" h="762000">
                  <a:moveTo>
                    <a:pt x="0" y="0"/>
                  </a:moveTo>
                  <a:lnTo>
                    <a:pt x="5486400" y="0"/>
                  </a:lnTo>
                  <a:lnTo>
                    <a:pt x="54864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024" t="-154634" b="-17146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5486400" cy="828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Hotel Brands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74336" y="2468880"/>
            <a:ext cx="4114800" cy="4023360"/>
            <a:chOff x="0" y="0"/>
            <a:chExt cx="5486400" cy="53644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486400" cy="5364480"/>
            </a:xfrm>
            <a:custGeom>
              <a:avLst/>
              <a:gdLst/>
              <a:ahLst/>
              <a:cxnLst/>
              <a:rect l="l" t="t" r="r" b="b"/>
              <a:pathLst>
                <a:path w="5486400" h="5364480">
                  <a:moveTo>
                    <a:pt x="0" y="0"/>
                  </a:moveTo>
                  <a:lnTo>
                    <a:pt x="5486400" y="0"/>
                  </a:lnTo>
                  <a:lnTo>
                    <a:pt x="54864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974336" y="2468880"/>
            <a:ext cx="4114800" cy="128016"/>
            <a:chOff x="0" y="0"/>
            <a:chExt cx="5486400" cy="1706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486400" cy="170688"/>
            </a:xfrm>
            <a:custGeom>
              <a:avLst/>
              <a:gdLst/>
              <a:ahLst/>
              <a:cxnLst/>
              <a:rect l="l" t="t" r="r" b="b"/>
              <a:pathLst>
                <a:path w="5486400" h="170688">
                  <a:moveTo>
                    <a:pt x="0" y="0"/>
                  </a:moveTo>
                  <a:lnTo>
                    <a:pt x="5486400" y="0"/>
                  </a:lnTo>
                  <a:lnTo>
                    <a:pt x="54864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974336" y="2743200"/>
            <a:ext cx="4114800" cy="1371600"/>
            <a:chOff x="0" y="0"/>
            <a:chExt cx="5486400" cy="1828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1828800"/>
            </a:xfrm>
            <a:custGeom>
              <a:avLst/>
              <a:gdLst/>
              <a:ahLst/>
              <a:cxnLst/>
              <a:rect l="l" t="t" r="r" b="b"/>
              <a:pathLst>
                <a:path w="5486400" h="18288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71450"/>
              <a:ext cx="5486400" cy="200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9,000+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974336" y="4023360"/>
            <a:ext cx="4114800" cy="548640"/>
            <a:chOff x="0" y="0"/>
            <a:chExt cx="54864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86400" cy="731520"/>
            </a:xfrm>
            <a:custGeom>
              <a:avLst/>
              <a:gdLst/>
              <a:ahLst/>
              <a:cxnLst/>
              <a:rect l="l" t="t" r="r" b="b"/>
              <a:pathLst>
                <a:path w="5486400" h="73152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5486400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C9A84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hotels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974336" y="4572000"/>
            <a:ext cx="4114800" cy="1463040"/>
            <a:chOff x="0" y="0"/>
            <a:chExt cx="5486400" cy="19507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86400" cy="1950720"/>
            </a:xfrm>
            <a:custGeom>
              <a:avLst/>
              <a:gdLst/>
              <a:ahLst/>
              <a:cxnLst/>
              <a:rect l="l" t="t" r="r" b="b"/>
              <a:pathLst>
                <a:path w="5486400" h="1950720">
                  <a:moveTo>
                    <a:pt x="0" y="0"/>
                  </a:moveTo>
                  <a:lnTo>
                    <a:pt x="5486400" y="0"/>
                  </a:lnTo>
                  <a:lnTo>
                    <a:pt x="548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548640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Properties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Worldwide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00032" y="2468880"/>
            <a:ext cx="4114800" cy="4023360"/>
            <a:chOff x="0" y="0"/>
            <a:chExt cx="5486400" cy="53644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86400" cy="5364480"/>
            </a:xfrm>
            <a:custGeom>
              <a:avLst/>
              <a:gdLst/>
              <a:ahLst/>
              <a:cxnLst/>
              <a:rect l="l" t="t" r="r" b="b"/>
              <a:pathLst>
                <a:path w="5486400" h="5364480">
                  <a:moveTo>
                    <a:pt x="0" y="0"/>
                  </a:moveTo>
                  <a:lnTo>
                    <a:pt x="5486400" y="0"/>
                  </a:lnTo>
                  <a:lnTo>
                    <a:pt x="54864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00032" y="2468880"/>
            <a:ext cx="4114800" cy="128016"/>
            <a:chOff x="0" y="0"/>
            <a:chExt cx="5486400" cy="17068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86400" cy="170688"/>
            </a:xfrm>
            <a:custGeom>
              <a:avLst/>
              <a:gdLst/>
              <a:ahLst/>
              <a:cxnLst/>
              <a:rect l="l" t="t" r="r" b="b"/>
              <a:pathLst>
                <a:path w="5486400" h="170688">
                  <a:moveTo>
                    <a:pt x="0" y="0"/>
                  </a:moveTo>
                  <a:lnTo>
                    <a:pt x="5486400" y="0"/>
                  </a:lnTo>
                  <a:lnTo>
                    <a:pt x="54864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00032" y="2743200"/>
            <a:ext cx="4114800" cy="1371600"/>
            <a:chOff x="0" y="0"/>
            <a:chExt cx="5486400" cy="1828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486400" cy="1828800"/>
            </a:xfrm>
            <a:custGeom>
              <a:avLst/>
              <a:gdLst/>
              <a:ahLst/>
              <a:cxnLst/>
              <a:rect l="l" t="t" r="r" b="b"/>
              <a:pathLst>
                <a:path w="5486400" h="18288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71450"/>
              <a:ext cx="5486400" cy="200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$22.73B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400032" y="4023360"/>
            <a:ext cx="4114800" cy="548640"/>
            <a:chOff x="0" y="0"/>
            <a:chExt cx="548640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486400" cy="731520"/>
            </a:xfrm>
            <a:custGeom>
              <a:avLst/>
              <a:gdLst/>
              <a:ahLst/>
              <a:cxnLst/>
              <a:rect l="l" t="t" r="r" b="b"/>
              <a:pathLst>
                <a:path w="5486400" h="73152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66675"/>
              <a:ext cx="5486400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C9A84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revenue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400032" y="4572000"/>
            <a:ext cx="4114800" cy="1463040"/>
            <a:chOff x="0" y="0"/>
            <a:chExt cx="5486400" cy="19507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486400" cy="1950720"/>
            </a:xfrm>
            <a:custGeom>
              <a:avLst/>
              <a:gdLst/>
              <a:ahLst/>
              <a:cxnLst/>
              <a:rect l="l" t="t" r="r" b="b"/>
              <a:pathLst>
                <a:path w="5486400" h="1950720">
                  <a:moveTo>
                    <a:pt x="0" y="0"/>
                  </a:moveTo>
                  <a:lnTo>
                    <a:pt x="5486400" y="0"/>
                  </a:lnTo>
                  <a:lnTo>
                    <a:pt x="548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66675"/>
              <a:ext cx="548640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Annual Revenue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(2025)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825728" y="2468880"/>
            <a:ext cx="4114800" cy="4023360"/>
            <a:chOff x="0" y="0"/>
            <a:chExt cx="5486400" cy="53644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486400" cy="5364480"/>
            </a:xfrm>
            <a:custGeom>
              <a:avLst/>
              <a:gdLst/>
              <a:ahLst/>
              <a:cxnLst/>
              <a:rect l="l" t="t" r="r" b="b"/>
              <a:pathLst>
                <a:path w="5486400" h="5364480">
                  <a:moveTo>
                    <a:pt x="0" y="0"/>
                  </a:moveTo>
                  <a:lnTo>
                    <a:pt x="5486400" y="0"/>
                  </a:lnTo>
                  <a:lnTo>
                    <a:pt x="54864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825728" y="2468880"/>
            <a:ext cx="4114800" cy="128016"/>
            <a:chOff x="0" y="0"/>
            <a:chExt cx="5486400" cy="17068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486400" cy="170688"/>
            </a:xfrm>
            <a:custGeom>
              <a:avLst/>
              <a:gdLst/>
              <a:ahLst/>
              <a:cxnLst/>
              <a:rect l="l" t="t" r="r" b="b"/>
              <a:pathLst>
                <a:path w="5486400" h="170688">
                  <a:moveTo>
                    <a:pt x="0" y="0"/>
                  </a:moveTo>
                  <a:lnTo>
                    <a:pt x="5486400" y="0"/>
                  </a:lnTo>
                  <a:lnTo>
                    <a:pt x="54864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825728" y="2743200"/>
            <a:ext cx="4114800" cy="1371600"/>
            <a:chOff x="0" y="0"/>
            <a:chExt cx="5486400" cy="1828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486400" cy="1828800"/>
            </a:xfrm>
            <a:custGeom>
              <a:avLst/>
              <a:gdLst/>
              <a:ahLst/>
              <a:cxnLst/>
              <a:rect l="l" t="t" r="r" b="b"/>
              <a:pathLst>
                <a:path w="5486400" h="18288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71450"/>
              <a:ext cx="5486400" cy="200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150+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825728" y="4023360"/>
            <a:ext cx="4114800" cy="548640"/>
            <a:chOff x="0" y="0"/>
            <a:chExt cx="5486400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486400" cy="731520"/>
            </a:xfrm>
            <a:custGeom>
              <a:avLst/>
              <a:gdLst/>
              <a:ahLst/>
              <a:cxnLst/>
              <a:rect l="l" t="t" r="r" b="b"/>
              <a:pathLst>
                <a:path w="5486400" h="73152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5486400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C9A84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countries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825728" y="4572000"/>
            <a:ext cx="4114800" cy="1463040"/>
            <a:chOff x="0" y="0"/>
            <a:chExt cx="5486400" cy="19507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486400" cy="1950720"/>
            </a:xfrm>
            <a:custGeom>
              <a:avLst/>
              <a:gdLst/>
              <a:ahLst/>
              <a:cxnLst/>
              <a:rect l="l" t="t" r="r" b="b"/>
              <a:pathLst>
                <a:path w="5486400" h="1950720">
                  <a:moveTo>
                    <a:pt x="0" y="0"/>
                  </a:moveTo>
                  <a:lnTo>
                    <a:pt x="5486400" y="0"/>
                  </a:lnTo>
                  <a:lnTo>
                    <a:pt x="548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66675"/>
              <a:ext cx="548640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Countries &amp;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Territories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35943" y="6845303"/>
            <a:ext cx="17216123" cy="2860043"/>
            <a:chOff x="0" y="0"/>
            <a:chExt cx="22954831" cy="3813391"/>
          </a:xfrm>
        </p:grpSpPr>
        <p:sp>
          <p:nvSpPr>
            <p:cNvPr id="62" name="Freeform 62"/>
            <p:cNvSpPr/>
            <p:nvPr/>
          </p:nvSpPr>
          <p:spPr>
            <a:xfrm>
              <a:off x="16891" y="16891"/>
              <a:ext cx="22920960" cy="3779520"/>
            </a:xfrm>
            <a:custGeom>
              <a:avLst/>
              <a:gdLst/>
              <a:ahLst/>
              <a:cxnLst/>
              <a:rect l="l" t="t" r="r" b="b"/>
              <a:pathLst>
                <a:path w="22920960" h="3779520">
                  <a:moveTo>
                    <a:pt x="0" y="0"/>
                  </a:moveTo>
                  <a:lnTo>
                    <a:pt x="22920960" y="0"/>
                  </a:lnTo>
                  <a:lnTo>
                    <a:pt x="229209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Freeform 63"/>
            <p:cNvSpPr/>
            <p:nvPr/>
          </p:nvSpPr>
          <p:spPr>
            <a:xfrm>
              <a:off x="0" y="0"/>
              <a:ext cx="22954743" cy="3813302"/>
            </a:xfrm>
            <a:custGeom>
              <a:avLst/>
              <a:gdLst/>
              <a:ahLst/>
              <a:cxnLst/>
              <a:rect l="l" t="t" r="r" b="b"/>
              <a:pathLst>
                <a:path w="22954743" h="3813302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3796411"/>
                  </a:lnTo>
                  <a:cubicBezTo>
                    <a:pt x="22954743" y="3805809"/>
                    <a:pt x="22947123" y="3813302"/>
                    <a:pt x="229378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2937851" y="3779520"/>
                  </a:lnTo>
                  <a:lnTo>
                    <a:pt x="22937851" y="3796411"/>
                  </a:lnTo>
                  <a:lnTo>
                    <a:pt x="22920961" y="379641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05840" y="6986016"/>
            <a:ext cx="16276320" cy="2560320"/>
            <a:chOff x="0" y="0"/>
            <a:chExt cx="21701760" cy="34137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701761" cy="3413760"/>
            </a:xfrm>
            <a:custGeom>
              <a:avLst/>
              <a:gdLst/>
              <a:ahLst/>
              <a:cxnLst/>
              <a:rect l="l" t="t" r="r" b="b"/>
              <a:pathLst>
                <a:path w="21701761" h="3413760">
                  <a:moveTo>
                    <a:pt x="0" y="0"/>
                  </a:moveTo>
                  <a:lnTo>
                    <a:pt x="21701761" y="0"/>
                  </a:lnTo>
                  <a:lnTo>
                    <a:pt x="21701761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869" b="-73869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76200"/>
              <a:ext cx="21701760" cy="3489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C9A84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Why Marriott?  </a:t>
              </a:r>
            </a:p>
            <a:p>
              <a:pPr marL="2590800" lvl="5" indent="-431800" algn="l">
                <a:lnSpc>
                  <a:spcPts val="2879"/>
                </a:lnSpc>
                <a:buAutoNum type="alphaLcPeriod"/>
              </a:pPr>
              <a:r>
                <a:rPr lang="en-US" sz="2400" b="1" dirty="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    </a:t>
              </a:r>
              <a:r>
                <a:rPr lang="en-US" sz="2400" dirty="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Marriott manages massive reservation data across its properties.</a:t>
              </a:r>
            </a:p>
            <a:p>
              <a:pPr marL="259080" lvl="1" algn="l">
                <a:lnSpc>
                  <a:spcPts val="2879"/>
                </a:lnSpc>
              </a:pPr>
              <a:r>
                <a:rPr lang="en-US" sz="2400" dirty="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			  My interest in luxury hotels led me to focus on this group.</a:t>
              </a:r>
            </a:p>
            <a:p>
              <a:pPr marL="259080" lvl="1" algn="l">
                <a:lnSpc>
                  <a:spcPts val="2879"/>
                </a:lnSpc>
              </a:pPr>
              <a:r>
                <a:rPr lang="en-US" sz="2400" dirty="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			  The real challenge is not collecting data but using it to drive profitability.</a:t>
              </a:r>
            </a:p>
          </p:txBody>
        </p:sp>
      </p:grpSp>
      <p:sp>
        <p:nvSpPr>
          <p:cNvPr id="67" name="Freeform 67"/>
          <p:cNvSpPr/>
          <p:nvPr/>
        </p:nvSpPr>
        <p:spPr>
          <a:xfrm>
            <a:off x="3139440" y="5124450"/>
            <a:ext cx="1367790" cy="1367790"/>
          </a:xfrm>
          <a:custGeom>
            <a:avLst/>
            <a:gdLst/>
            <a:ahLst/>
            <a:cxnLst/>
            <a:rect l="l" t="t" r="r" b="b"/>
            <a:pathLst>
              <a:path w="1367790" h="1367790">
                <a:moveTo>
                  <a:pt x="0" y="0"/>
                </a:moveTo>
                <a:lnTo>
                  <a:pt x="1367790" y="0"/>
                </a:lnTo>
                <a:lnTo>
                  <a:pt x="1367790" y="1367790"/>
                </a:lnTo>
                <a:lnTo>
                  <a:pt x="0" y="1367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8" name="Freeform 68"/>
          <p:cNvSpPr/>
          <p:nvPr/>
        </p:nvSpPr>
        <p:spPr>
          <a:xfrm rot="-24000">
            <a:off x="811925" y="5313113"/>
            <a:ext cx="1156698" cy="990464"/>
          </a:xfrm>
          <a:custGeom>
            <a:avLst/>
            <a:gdLst/>
            <a:ahLst/>
            <a:cxnLst/>
            <a:rect l="l" t="t" r="r" b="b"/>
            <a:pathLst>
              <a:path w="1156698" h="990464">
                <a:moveTo>
                  <a:pt x="6858" y="0"/>
                </a:moveTo>
                <a:lnTo>
                  <a:pt x="1156697" y="8028"/>
                </a:lnTo>
                <a:lnTo>
                  <a:pt x="1149838" y="990464"/>
                </a:lnTo>
                <a:lnTo>
                  <a:pt x="0" y="982436"/>
                </a:lnTo>
                <a:lnTo>
                  <a:pt x="6858" y="0"/>
                </a:lnTo>
                <a:close/>
              </a:path>
            </a:pathLst>
          </a:custGeom>
          <a:blipFill>
            <a:blip r:embed="rId6"/>
            <a:stretch>
              <a:fillRect l="-28578" t="-178" r="-27955" b="-2831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69" name="Group 69"/>
          <p:cNvGrpSpPr/>
          <p:nvPr/>
        </p:nvGrpSpPr>
        <p:grpSpPr>
          <a:xfrm>
            <a:off x="1323598" y="5581650"/>
            <a:ext cx="2407920" cy="439222"/>
            <a:chOff x="0" y="0"/>
            <a:chExt cx="5486400" cy="10007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486400" cy="1000760"/>
            </a:xfrm>
            <a:custGeom>
              <a:avLst/>
              <a:gdLst/>
              <a:ahLst/>
              <a:cxnLst/>
              <a:rect l="l" t="t" r="r" b="b"/>
              <a:pathLst>
                <a:path w="5486400" h="1000760">
                  <a:moveTo>
                    <a:pt x="0" y="0"/>
                  </a:moveTo>
                  <a:lnTo>
                    <a:pt x="5486400" y="0"/>
                  </a:lnTo>
                  <a:lnTo>
                    <a:pt x="5486400" y="1000760"/>
                  </a:lnTo>
                  <a:lnTo>
                    <a:pt x="0" y="1000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024" t="-105813" b="-1186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66675"/>
              <a:ext cx="5486400" cy="1067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⟶ </a:t>
              </a:r>
            </a:p>
          </p:txBody>
        </p:sp>
      </p:grpSp>
      <p:sp>
        <p:nvSpPr>
          <p:cNvPr id="72" name="Freeform 72"/>
          <p:cNvSpPr/>
          <p:nvPr/>
        </p:nvSpPr>
        <p:spPr>
          <a:xfrm>
            <a:off x="16189041" y="418297"/>
            <a:ext cx="1789587" cy="1006643"/>
          </a:xfrm>
          <a:custGeom>
            <a:avLst/>
            <a:gdLst/>
            <a:ahLst/>
            <a:cxnLst/>
            <a:rect l="l" t="t" r="r" b="b"/>
            <a:pathLst>
              <a:path w="1789587" h="1006643">
                <a:moveTo>
                  <a:pt x="0" y="0"/>
                </a:moveTo>
                <a:lnTo>
                  <a:pt x="1789587" y="0"/>
                </a:lnTo>
                <a:lnTo>
                  <a:pt x="1789587" y="1006643"/>
                </a:lnTo>
                <a:lnTo>
                  <a:pt x="0" y="10066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20240"/>
            <a:chOff x="0" y="0"/>
            <a:chExt cx="24384000" cy="2560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60320"/>
            </a:xfrm>
            <a:custGeom>
              <a:avLst/>
              <a:gdLst/>
              <a:ahLst/>
              <a:cxnLst/>
              <a:rect l="l" t="t" r="r" b="b"/>
              <a:pathLst>
                <a:path w="24384000" h="2560320">
                  <a:moveTo>
                    <a:pt x="0" y="0"/>
                  </a:moveTo>
                  <a:lnTo>
                    <a:pt x="24384000" y="0"/>
                  </a:lnTo>
                  <a:lnTo>
                    <a:pt x="243840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B2A4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920240"/>
            <a:ext cx="18288000" cy="109728"/>
            <a:chOff x="0" y="0"/>
            <a:chExt cx="24384000" cy="1463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46304"/>
            </a:xfrm>
            <a:custGeom>
              <a:avLst/>
              <a:gdLst/>
              <a:ahLst/>
              <a:cxnLst/>
              <a:rect l="l" t="t" r="r" b="b"/>
              <a:pathLst>
                <a:path w="24384000" h="146304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0"/>
            <a:ext cx="16824960" cy="1920240"/>
            <a:chOff x="0" y="0"/>
            <a:chExt cx="22433280" cy="2560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433280" cy="2560320"/>
            </a:xfrm>
            <a:custGeom>
              <a:avLst/>
              <a:gdLst/>
              <a:ahLst/>
              <a:cxnLst/>
              <a:rect l="l" t="t" r="r" b="b"/>
              <a:pathLst>
                <a:path w="22433280" h="2560320">
                  <a:moveTo>
                    <a:pt x="0" y="0"/>
                  </a:moveTo>
                  <a:lnTo>
                    <a:pt x="22433280" y="0"/>
                  </a:lnTo>
                  <a:lnTo>
                    <a:pt x="224332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726" b="-1207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42875"/>
              <a:ext cx="22433280" cy="2703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Financial Problem &amp; Database Choice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8640" y="2377440"/>
            <a:ext cx="8229600" cy="7132320"/>
            <a:chOff x="0" y="0"/>
            <a:chExt cx="10972800" cy="95097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2800" cy="9509760"/>
            </a:xfrm>
            <a:custGeom>
              <a:avLst/>
              <a:gdLst/>
              <a:ahLst/>
              <a:cxnLst/>
              <a:rect l="l" t="t" r="r" b="b"/>
              <a:pathLst>
                <a:path w="10972800" h="9509760">
                  <a:moveTo>
                    <a:pt x="0" y="0"/>
                  </a:moveTo>
                  <a:lnTo>
                    <a:pt x="10972800" y="0"/>
                  </a:lnTo>
                  <a:lnTo>
                    <a:pt x="109728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2377440"/>
            <a:ext cx="8229600" cy="822960"/>
            <a:chOff x="0" y="0"/>
            <a:chExt cx="10972800" cy="1097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0" cy="1097280"/>
            </a:xfrm>
            <a:custGeom>
              <a:avLst/>
              <a:gdLst/>
              <a:ahLst/>
              <a:cxnLst/>
              <a:rect l="l" t="t" r="r" b="b"/>
              <a:pathLst>
                <a:path w="10972800" h="109728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48640" y="2377440"/>
            <a:ext cx="8229600" cy="822960"/>
            <a:chOff x="0" y="0"/>
            <a:chExt cx="10972800" cy="10972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72800" cy="1097280"/>
            </a:xfrm>
            <a:custGeom>
              <a:avLst/>
              <a:gdLst/>
              <a:ahLst/>
              <a:cxnLst/>
              <a:rect l="l" t="t" r="r" b="b"/>
              <a:pathLst>
                <a:path w="10972800" h="109728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097280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The Financial Problem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3383280"/>
            <a:ext cx="7680960" cy="5943600"/>
            <a:chOff x="0" y="0"/>
            <a:chExt cx="10241280" cy="7924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241280" cy="7924800"/>
            </a:xfrm>
            <a:custGeom>
              <a:avLst/>
              <a:gdLst/>
              <a:ahLst/>
              <a:cxnLst/>
              <a:rect l="l" t="t" r="r" b="b"/>
              <a:pathLst>
                <a:path w="10241280" h="7924800">
                  <a:moveTo>
                    <a:pt x="0" y="0"/>
                  </a:moveTo>
                  <a:lnTo>
                    <a:pt x="10241280" y="0"/>
                  </a:lnTo>
                  <a:lnTo>
                    <a:pt x="10241280" y="7924800"/>
                  </a:lnTo>
                  <a:lnTo>
                    <a:pt x="0" y="792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282" r="-4928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10241280" cy="8001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Core question:</a:t>
              </a:r>
            </a:p>
            <a:p>
              <a:pPr algn="l">
                <a:lnSpc>
                  <a:spcPts val="2879"/>
                </a:lnSpc>
              </a:pPr>
              <a:endParaRPr lang="en-US" sz="2400" b="1">
                <a:solidFill>
                  <a:srgbClr val="1B2A4A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&lt;</a:t>
              </a:r>
              <a:r>
                <a:rPr lang="en-US" sz="2400" i="1">
                  <a:solidFill>
                    <a:srgbClr val="64748B"/>
                  </a:solidFill>
                  <a:latin typeface="Agrandir Italics"/>
                  <a:ea typeface="Agrandir Italics"/>
                  <a:cs typeface="Agrandir Italics"/>
                  <a:sym typeface="Agrandir Italics"/>
                </a:rPr>
                <a:t>How can reservation data be structured &amp; exploited to analyse and improve hotel profitability?&gt;</a:t>
              </a:r>
            </a:p>
            <a:p>
              <a:pPr algn="l">
                <a:lnSpc>
                  <a:spcPts val="2879"/>
                </a:lnSpc>
              </a:pPr>
              <a:endParaRPr lang="en-US" sz="2400" i="1">
                <a:solidFill>
                  <a:srgbClr val="64748B"/>
                </a:solidFill>
                <a:latin typeface="Agrandir Italics"/>
                <a:ea typeface="Agrandir Italics"/>
                <a:cs typeface="Agrandir Italics"/>
                <a:sym typeface="Agrandir Italics"/>
              </a:endParaRPr>
            </a:p>
            <a:p>
              <a:pPr algn="l">
                <a:lnSpc>
                  <a:spcPts val="2879"/>
                </a:lnSpc>
              </a:pPr>
              <a:endParaRPr lang="en-US" sz="2400" i="1">
                <a:solidFill>
                  <a:srgbClr val="64748B"/>
                </a:solidFill>
                <a:latin typeface="Agrandir Italics"/>
                <a:ea typeface="Agrandir Italics"/>
                <a:cs typeface="Agrandir Italics"/>
                <a:sym typeface="Agrandir Italics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Key financial KPIs:</a:t>
              </a:r>
            </a:p>
            <a:p>
              <a:pPr algn="l">
                <a:lnSpc>
                  <a:spcPts val="2879"/>
                </a:lnSpc>
              </a:pPr>
              <a:endParaRPr lang="en-US" sz="2400" b="1">
                <a:solidFill>
                  <a:srgbClr val="1B2A4A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• RevPAR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• ADR (Average Daily Rate)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• Occupancy Rate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• Revenue per booking channel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• Seasonal revenue trends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18320" y="2377440"/>
            <a:ext cx="8229600" cy="7132320"/>
            <a:chOff x="0" y="0"/>
            <a:chExt cx="10972800" cy="95097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72800" cy="9509760"/>
            </a:xfrm>
            <a:custGeom>
              <a:avLst/>
              <a:gdLst/>
              <a:ahLst/>
              <a:cxnLst/>
              <a:rect l="l" t="t" r="r" b="b"/>
              <a:pathLst>
                <a:path w="10972800" h="9509760">
                  <a:moveTo>
                    <a:pt x="0" y="0"/>
                  </a:moveTo>
                  <a:lnTo>
                    <a:pt x="10972800" y="0"/>
                  </a:lnTo>
                  <a:lnTo>
                    <a:pt x="10972800" y="9509760"/>
                  </a:lnTo>
                  <a:lnTo>
                    <a:pt x="0" y="9509760"/>
                  </a:lnTo>
                  <a:close/>
                </a:path>
              </a:pathLst>
            </a:custGeom>
            <a:blipFill>
              <a:blip r:embed="rId4">
                <a:alphaModFix amt="4000"/>
              </a:blip>
              <a:stretch>
                <a:fillRect l="-16872" r="-1687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18320" y="2377440"/>
            <a:ext cx="8229600" cy="822960"/>
            <a:chOff x="0" y="0"/>
            <a:chExt cx="10972800" cy="10972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72800" cy="1097280"/>
            </a:xfrm>
            <a:custGeom>
              <a:avLst/>
              <a:gdLst/>
              <a:ahLst/>
              <a:cxnLst/>
              <a:rect l="l" t="t" r="r" b="b"/>
              <a:pathLst>
                <a:path w="10972800" h="109728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2A4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18320" y="2377440"/>
            <a:ext cx="8229600" cy="822960"/>
            <a:chOff x="0" y="0"/>
            <a:chExt cx="10972800" cy="10972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72800" cy="1097280"/>
            </a:xfrm>
            <a:custGeom>
              <a:avLst/>
              <a:gdLst/>
              <a:ahLst/>
              <a:cxnLst/>
              <a:rect l="l" t="t" r="r" b="b"/>
              <a:pathLst>
                <a:path w="10972800" h="109728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1097280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C9A84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DBMS Choice: PostgreSQL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692640" y="3383280"/>
            <a:ext cx="7680960" cy="5943600"/>
            <a:chOff x="0" y="0"/>
            <a:chExt cx="10241280" cy="7924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41280" cy="7924800"/>
            </a:xfrm>
            <a:custGeom>
              <a:avLst/>
              <a:gdLst/>
              <a:ahLst/>
              <a:cxnLst/>
              <a:rect l="l" t="t" r="r" b="b"/>
              <a:pathLst>
                <a:path w="10241280" h="7924800">
                  <a:moveTo>
                    <a:pt x="0" y="0"/>
                  </a:moveTo>
                  <a:lnTo>
                    <a:pt x="10241280" y="0"/>
                  </a:lnTo>
                  <a:lnTo>
                    <a:pt x="10241280" y="7924800"/>
                  </a:lnTo>
                  <a:lnTo>
                    <a:pt x="0" y="792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282" r="-4928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10241280" cy="8001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Why a Relational DBMS?</a:t>
              </a:r>
            </a:p>
            <a:p>
              <a:pPr algn="l">
                <a:lnSpc>
                  <a:spcPts val="2879"/>
                </a:lnSpc>
              </a:pPr>
              <a:endParaRPr lang="en-US" sz="2400" b="1">
                <a:solidFill>
                  <a:srgbClr val="1B2A4A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⟶ Structured data: </a:t>
              </a:r>
              <a:r>
                <a:rPr lang="en-US" sz="24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reservations, rooms, hotels, revenues all have fixed schemas.</a:t>
              </a:r>
            </a:p>
            <a:p>
              <a:pPr algn="l">
                <a:lnSpc>
                  <a:spcPts val="2879"/>
                </a:lnSpc>
              </a:pPr>
              <a:endParaRPr lang="en-US" sz="2400">
                <a:solidFill>
                  <a:srgbClr val="64748B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A"/>
                  </a:solidFill>
                  <a:latin typeface="Agrandir"/>
                  <a:ea typeface="Agrandir"/>
                  <a:cs typeface="Agrandir"/>
                  <a:sym typeface="Agrandir"/>
                </a:rPr>
                <a:t>⟶ </a:t>
              </a:r>
              <a:r>
                <a:rPr lang="en-US" sz="24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SQL aggregations: </a:t>
              </a:r>
              <a:r>
                <a:rPr lang="en-US" sz="24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ideal for GROUP BY, SUM, AVG on financial metrics.</a:t>
              </a:r>
            </a:p>
            <a:p>
              <a:pPr algn="l">
                <a:lnSpc>
                  <a:spcPts val="2879"/>
                </a:lnSpc>
              </a:pPr>
              <a:endParaRPr lang="en-US" sz="2400">
                <a:solidFill>
                  <a:srgbClr val="64748B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A"/>
                  </a:solidFill>
                  <a:latin typeface="Agrandir"/>
                  <a:ea typeface="Agrandir"/>
                  <a:cs typeface="Agrandir"/>
                  <a:sym typeface="Agrandir"/>
                </a:rPr>
                <a:t>⟶ </a:t>
              </a:r>
              <a:r>
                <a:rPr lang="en-US" sz="24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Referential integrity: </a:t>
              </a:r>
              <a:r>
                <a:rPr lang="en-US" sz="24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foreign keys prevent orphan records.</a:t>
              </a:r>
            </a:p>
            <a:p>
              <a:pPr algn="l">
                <a:lnSpc>
                  <a:spcPts val="2879"/>
                </a:lnSpc>
              </a:pPr>
              <a:endParaRPr lang="en-US" sz="2400">
                <a:solidFill>
                  <a:srgbClr val="64748B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algn="l">
                <a:lnSpc>
                  <a:spcPts val="2879"/>
                </a:lnSpc>
              </a:pPr>
              <a:endParaRPr lang="en-US" sz="2400">
                <a:solidFill>
                  <a:srgbClr val="64748B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Why PostgreSQL specifically?</a:t>
              </a:r>
            </a:p>
            <a:p>
              <a:pPr algn="l">
                <a:lnSpc>
                  <a:spcPts val="2879"/>
                </a:lnSpc>
              </a:pPr>
              <a:endParaRPr lang="en-US" sz="2400" b="1">
                <a:solidFill>
                  <a:srgbClr val="1B2A4A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Free, production-grade, window functions for RevPAR calculations, Python connector (psycopg2).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6189041" y="418297"/>
            <a:ext cx="1789587" cy="1006643"/>
          </a:xfrm>
          <a:custGeom>
            <a:avLst/>
            <a:gdLst/>
            <a:ahLst/>
            <a:cxnLst/>
            <a:rect l="l" t="t" r="r" b="b"/>
            <a:pathLst>
              <a:path w="1789587" h="1006643">
                <a:moveTo>
                  <a:pt x="0" y="0"/>
                </a:moveTo>
                <a:lnTo>
                  <a:pt x="1789587" y="0"/>
                </a:lnTo>
                <a:lnTo>
                  <a:pt x="1789587" y="1006643"/>
                </a:lnTo>
                <a:lnTo>
                  <a:pt x="0" y="1006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20240"/>
            <a:chOff x="0" y="0"/>
            <a:chExt cx="24384000" cy="2560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60320"/>
            </a:xfrm>
            <a:custGeom>
              <a:avLst/>
              <a:gdLst/>
              <a:ahLst/>
              <a:cxnLst/>
              <a:rect l="l" t="t" r="r" b="b"/>
              <a:pathLst>
                <a:path w="24384000" h="2560320">
                  <a:moveTo>
                    <a:pt x="0" y="0"/>
                  </a:moveTo>
                  <a:lnTo>
                    <a:pt x="24384000" y="0"/>
                  </a:lnTo>
                  <a:lnTo>
                    <a:pt x="243840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B2A4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920240"/>
            <a:ext cx="18288000" cy="109728"/>
            <a:chOff x="0" y="0"/>
            <a:chExt cx="24384000" cy="1463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46304"/>
            </a:xfrm>
            <a:custGeom>
              <a:avLst/>
              <a:gdLst/>
              <a:ahLst/>
              <a:cxnLst/>
              <a:rect l="l" t="t" r="r" b="b"/>
              <a:pathLst>
                <a:path w="24384000" h="146304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0"/>
            <a:ext cx="16824960" cy="1920240"/>
            <a:chOff x="0" y="0"/>
            <a:chExt cx="22433280" cy="2560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433280" cy="2560320"/>
            </a:xfrm>
            <a:custGeom>
              <a:avLst/>
              <a:gdLst/>
              <a:ahLst/>
              <a:cxnLst/>
              <a:rect l="l" t="t" r="r" b="b"/>
              <a:pathLst>
                <a:path w="22433280" h="2560320">
                  <a:moveTo>
                    <a:pt x="0" y="0"/>
                  </a:moveTo>
                  <a:lnTo>
                    <a:pt x="22433280" y="0"/>
                  </a:lnTo>
                  <a:lnTo>
                    <a:pt x="224332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726" b="-1207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22433280" cy="2684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Database Schema – Entity Relationship Overview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86600" y="2377440"/>
            <a:ext cx="4114800" cy="3291840"/>
            <a:chOff x="0" y="0"/>
            <a:chExt cx="5486400" cy="4389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86400" cy="4389120"/>
            </a:xfrm>
            <a:custGeom>
              <a:avLst/>
              <a:gdLst/>
              <a:ahLst/>
              <a:cxnLst/>
              <a:rect l="l" t="t" r="r" b="b"/>
              <a:pathLst>
                <a:path w="5486400" h="4389120">
                  <a:moveTo>
                    <a:pt x="0" y="0"/>
                  </a:moveTo>
                  <a:lnTo>
                    <a:pt x="5486400" y="0"/>
                  </a:lnTo>
                  <a:lnTo>
                    <a:pt x="54864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86600" y="2377440"/>
            <a:ext cx="4114800" cy="676656"/>
            <a:chOff x="0" y="0"/>
            <a:chExt cx="5486400" cy="9022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902208"/>
            </a:xfrm>
            <a:custGeom>
              <a:avLst/>
              <a:gdLst/>
              <a:ahLst/>
              <a:cxnLst/>
              <a:rect l="l" t="t" r="r" b="b"/>
              <a:pathLst>
                <a:path w="5486400" h="902208">
                  <a:moveTo>
                    <a:pt x="0" y="0"/>
                  </a:moveTo>
                  <a:lnTo>
                    <a:pt x="5486400" y="0"/>
                  </a:lnTo>
                  <a:lnTo>
                    <a:pt x="548640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1B2A4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86600" y="2377440"/>
            <a:ext cx="4114800" cy="676656"/>
            <a:chOff x="0" y="0"/>
            <a:chExt cx="5486400" cy="9022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486400" cy="902208"/>
            </a:xfrm>
            <a:custGeom>
              <a:avLst/>
              <a:gdLst/>
              <a:ahLst/>
              <a:cxnLst/>
              <a:rect l="l" t="t" r="r" b="b"/>
              <a:pathLst>
                <a:path w="5486400" h="902208">
                  <a:moveTo>
                    <a:pt x="0" y="0"/>
                  </a:moveTo>
                  <a:lnTo>
                    <a:pt x="5486400" y="0"/>
                  </a:lnTo>
                  <a:lnTo>
                    <a:pt x="5486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490" b="-6849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5486400" cy="9784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C9A84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Rooms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32904" y="3145536"/>
            <a:ext cx="3840480" cy="2377440"/>
            <a:chOff x="0" y="0"/>
            <a:chExt cx="5120640" cy="31699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20640" cy="3169920"/>
            </a:xfrm>
            <a:custGeom>
              <a:avLst/>
              <a:gdLst/>
              <a:ahLst/>
              <a:cxnLst/>
              <a:rect l="l" t="t" r="r" b="b"/>
              <a:pathLst>
                <a:path w="5120640" h="3169920">
                  <a:moveTo>
                    <a:pt x="0" y="0"/>
                  </a:moveTo>
                  <a:lnTo>
                    <a:pt x="5120640" y="0"/>
                  </a:lnTo>
                  <a:lnTo>
                    <a:pt x="512064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r="-294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120640" cy="3217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room_id (PK)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hotel_id (FK)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room_type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base_price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capacity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41878" y="2487168"/>
            <a:ext cx="839972" cy="419986"/>
            <a:chOff x="0" y="0"/>
            <a:chExt cx="1219200" cy="609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9200" cy="609600"/>
            </a:xfrm>
            <a:custGeom>
              <a:avLst/>
              <a:gdLst/>
              <a:ahLst/>
              <a:cxnLst/>
              <a:rect l="l" t="t" r="r" b="b"/>
              <a:pathLst>
                <a:path w="1219200" h="6096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A84C"/>
                  </a:solidFill>
                  <a:latin typeface="Consolas"/>
                  <a:ea typeface="Consolas"/>
                  <a:cs typeface="Consolas"/>
                  <a:sym typeface="Consolas"/>
                </a:rPr>
                <a:t>→ FK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334750" y="2468561"/>
            <a:ext cx="914400" cy="457200"/>
            <a:chOff x="0" y="0"/>
            <a:chExt cx="1219200" cy="609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9200" cy="609600"/>
            </a:xfrm>
            <a:custGeom>
              <a:avLst/>
              <a:gdLst/>
              <a:ahLst/>
              <a:cxnLst/>
              <a:rect l="l" t="t" r="r" b="b"/>
              <a:pathLst>
                <a:path w="1219200" h="6096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A84C"/>
                  </a:solidFill>
                  <a:latin typeface="Consolas"/>
                  <a:ea typeface="Consolas"/>
                  <a:cs typeface="Consolas"/>
                  <a:sym typeface="Consolas"/>
                </a:rPr>
                <a:t>→ FK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057400" y="2295144"/>
            <a:ext cx="4114800" cy="7040880"/>
            <a:chOff x="0" y="0"/>
            <a:chExt cx="5486400" cy="938784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5486400" cy="4389120"/>
              <a:chOff x="0" y="0"/>
              <a:chExt cx="5486400" cy="438912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486400" cy="438912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438912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4389120"/>
                    </a:lnTo>
                    <a:lnTo>
                      <a:pt x="0" y="43891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0"/>
              <a:ext cx="5486400" cy="902208"/>
              <a:chOff x="0" y="0"/>
              <a:chExt cx="5486400" cy="90220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5486400" cy="902208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02208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902208"/>
                    </a:lnTo>
                    <a:lnTo>
                      <a:pt x="0" y="902208"/>
                    </a:lnTo>
                    <a:close/>
                  </a:path>
                </a:pathLst>
              </a:custGeom>
              <a:solidFill>
                <a:srgbClr val="1B2A4A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0"/>
              <a:ext cx="5486400" cy="902208"/>
              <a:chOff x="0" y="0"/>
              <a:chExt cx="5486400" cy="90220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486400" cy="902208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02208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902208"/>
                    </a:lnTo>
                    <a:lnTo>
                      <a:pt x="0" y="90220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68490" b="-68490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76200"/>
                <a:ext cx="5486400" cy="97840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C9A84C"/>
                    </a:solidFill>
                    <a:latin typeface="Agrandir Bold"/>
                    <a:ea typeface="Agrandir Bold"/>
                    <a:cs typeface="Agrandir Bold"/>
                    <a:sym typeface="Agrandir Bold"/>
                  </a:rPr>
                  <a:t>Hotels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95072" y="1024128"/>
              <a:ext cx="5120640" cy="3169920"/>
              <a:chOff x="0" y="0"/>
              <a:chExt cx="5120640" cy="316992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120640" cy="3169920"/>
              </a:xfrm>
              <a:custGeom>
                <a:avLst/>
                <a:gdLst/>
                <a:ahLst/>
                <a:cxnLst/>
                <a:rect l="l" t="t" r="r" b="b"/>
                <a:pathLst>
                  <a:path w="5120640" h="316992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3169920"/>
                    </a:lnTo>
                    <a:lnTo>
                      <a:pt x="0" y="31699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9426" r="-29426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5120640" cy="32175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hotel_id (PK)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name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city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country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category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4998720"/>
              <a:ext cx="5486400" cy="4389120"/>
              <a:chOff x="0" y="0"/>
              <a:chExt cx="5486400" cy="438912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5486400" cy="438912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438912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4389120"/>
                    </a:lnTo>
                    <a:lnTo>
                      <a:pt x="0" y="43891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4998720"/>
              <a:ext cx="5486400" cy="902208"/>
              <a:chOff x="0" y="0"/>
              <a:chExt cx="5486400" cy="902208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486400" cy="902208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02208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902208"/>
                    </a:lnTo>
                    <a:lnTo>
                      <a:pt x="0" y="902208"/>
                    </a:lnTo>
                    <a:close/>
                  </a:path>
                </a:pathLst>
              </a:custGeom>
              <a:solidFill>
                <a:srgbClr val="1B2A4A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4998720"/>
              <a:ext cx="5486400" cy="902208"/>
              <a:chOff x="0" y="0"/>
              <a:chExt cx="5486400" cy="90220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486400" cy="902208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02208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902208"/>
                    </a:lnTo>
                    <a:lnTo>
                      <a:pt x="0" y="90220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68490" b="-68490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76200"/>
                <a:ext cx="5486400" cy="97840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C9A84C"/>
                    </a:solidFill>
                    <a:latin typeface="Agrandir Bold"/>
                    <a:ea typeface="Agrandir Bold"/>
                    <a:cs typeface="Agrandir Bold"/>
                    <a:sym typeface="Agrandir Bold"/>
                  </a:rPr>
                  <a:t>Reservations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95072" y="6022848"/>
              <a:ext cx="5120640" cy="3169920"/>
              <a:chOff x="0" y="0"/>
              <a:chExt cx="5120640" cy="316992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5120640" cy="3169920"/>
              </a:xfrm>
              <a:custGeom>
                <a:avLst/>
                <a:gdLst/>
                <a:ahLst/>
                <a:cxnLst/>
                <a:rect l="l" t="t" r="r" b="b"/>
                <a:pathLst>
                  <a:path w="5120640" h="316992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3169920"/>
                    </a:lnTo>
                    <a:lnTo>
                      <a:pt x="0" y="31699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9426" r="-29426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5120640" cy="32175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reservation_id (PK)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room_id (FK)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customer_id (FK)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check_in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check_out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channel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total_revenue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2316480" y="4389120"/>
              <a:ext cx="1219200" cy="609600"/>
              <a:chOff x="0" y="0"/>
              <a:chExt cx="1219200" cy="6096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2192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6096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1219200" cy="6477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C9A84C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↓ FK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2111609" y="2377440"/>
            <a:ext cx="4114800" cy="7040880"/>
            <a:chOff x="0" y="0"/>
            <a:chExt cx="5486400" cy="9387840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5486400" cy="4389120"/>
              <a:chOff x="0" y="0"/>
              <a:chExt cx="5486400" cy="438912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5486400" cy="438912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438912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4389120"/>
                    </a:lnTo>
                    <a:lnTo>
                      <a:pt x="0" y="43891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0" y="0"/>
              <a:ext cx="5486400" cy="902208"/>
              <a:chOff x="0" y="0"/>
              <a:chExt cx="5486400" cy="90220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5486400" cy="902208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02208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902208"/>
                    </a:lnTo>
                    <a:lnTo>
                      <a:pt x="0" y="902208"/>
                    </a:lnTo>
                    <a:close/>
                  </a:path>
                </a:pathLst>
              </a:custGeom>
              <a:solidFill>
                <a:srgbClr val="1B2A4A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0"/>
              <a:ext cx="5486400" cy="902208"/>
              <a:chOff x="0" y="0"/>
              <a:chExt cx="5486400" cy="90220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5486400" cy="902208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02208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902208"/>
                    </a:lnTo>
                    <a:lnTo>
                      <a:pt x="0" y="90220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68490" b="-68490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76200"/>
                <a:ext cx="5486400" cy="97840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C9A84C"/>
                    </a:solidFill>
                    <a:latin typeface="Agrandir Bold"/>
                    <a:ea typeface="Agrandir Bold"/>
                    <a:cs typeface="Agrandir Bold"/>
                    <a:sym typeface="Agrandir Bold"/>
                  </a:rPr>
                  <a:t>Customers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95072" y="1024128"/>
              <a:ext cx="5120640" cy="3169920"/>
              <a:chOff x="0" y="0"/>
              <a:chExt cx="5120640" cy="316992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5120640" cy="3169920"/>
              </a:xfrm>
              <a:custGeom>
                <a:avLst/>
                <a:gdLst/>
                <a:ahLst/>
                <a:cxnLst/>
                <a:rect l="l" t="t" r="r" b="b"/>
                <a:pathLst>
                  <a:path w="5120640" h="316992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3169920"/>
                    </a:lnTo>
                    <a:lnTo>
                      <a:pt x="0" y="31699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9426" r="-29426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47625"/>
                <a:ext cx="5120640" cy="32175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customer_id (PK)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name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loyalty_tier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country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0" y="4998720"/>
              <a:ext cx="5486400" cy="4389120"/>
              <a:chOff x="0" y="0"/>
              <a:chExt cx="5486400" cy="438912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5486400" cy="438912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438912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4389120"/>
                    </a:lnTo>
                    <a:lnTo>
                      <a:pt x="0" y="43891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0" y="4998720"/>
              <a:ext cx="5486400" cy="902208"/>
              <a:chOff x="0" y="0"/>
              <a:chExt cx="5486400" cy="902208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5486400" cy="902208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02208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902208"/>
                    </a:lnTo>
                    <a:lnTo>
                      <a:pt x="0" y="902208"/>
                    </a:lnTo>
                    <a:close/>
                  </a:path>
                </a:pathLst>
              </a:custGeom>
              <a:solidFill>
                <a:srgbClr val="1B2A4A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0" y="4998720"/>
              <a:ext cx="5486400" cy="902208"/>
              <a:chOff x="0" y="0"/>
              <a:chExt cx="5486400" cy="902208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5486400" cy="902208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02208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902208"/>
                    </a:lnTo>
                    <a:lnTo>
                      <a:pt x="0" y="90220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68490" b="-68490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76200"/>
                <a:ext cx="5486400" cy="97840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C9A84C"/>
                    </a:solidFill>
                    <a:latin typeface="Agrandir Bold"/>
                    <a:ea typeface="Agrandir Bold"/>
                    <a:cs typeface="Agrandir Bold"/>
                    <a:sym typeface="Agrandir Bold"/>
                  </a:rPr>
                  <a:t>Revenue_Facts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95072" y="6022848"/>
              <a:ext cx="5120640" cy="3169920"/>
              <a:chOff x="0" y="0"/>
              <a:chExt cx="5120640" cy="316992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5120640" cy="3169920"/>
              </a:xfrm>
              <a:custGeom>
                <a:avLst/>
                <a:gdLst/>
                <a:ahLst/>
                <a:cxnLst/>
                <a:rect l="l" t="t" r="r" b="b"/>
                <a:pathLst>
                  <a:path w="5120640" h="316992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3169920"/>
                    </a:lnTo>
                    <a:lnTo>
                      <a:pt x="0" y="31699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9426" r="-29426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-47625"/>
                <a:ext cx="5120640" cy="32175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fact_id (PK)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reservation_id (FK)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hotel_id (FK)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date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RevPAR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ADR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occupancy_rate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2316480" y="4389120"/>
              <a:ext cx="1219200" cy="609600"/>
              <a:chOff x="0" y="0"/>
              <a:chExt cx="1219200" cy="6096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12192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6096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1219200" cy="6477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C9A84C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↓ FK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9144000" y="7772400"/>
            <a:ext cx="3477993" cy="350059"/>
            <a:chOff x="0" y="0"/>
            <a:chExt cx="6096000" cy="613561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096000" cy="613561"/>
            </a:xfrm>
            <a:custGeom>
              <a:avLst/>
              <a:gdLst/>
              <a:ahLst/>
              <a:cxnLst/>
              <a:rect l="l" t="t" r="r" b="b"/>
              <a:pathLst>
                <a:path w="6096000" h="613561">
                  <a:moveTo>
                    <a:pt x="0" y="0"/>
                  </a:moveTo>
                  <a:lnTo>
                    <a:pt x="6096000" y="0"/>
                  </a:lnTo>
                  <a:lnTo>
                    <a:pt x="6096000" y="613561"/>
                  </a:lnTo>
                  <a:lnTo>
                    <a:pt x="0" y="6135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915" b="-143269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6096000" cy="6516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A84C"/>
                  </a:solidFill>
                  <a:latin typeface="Consolas"/>
                  <a:ea typeface="Consolas"/>
                  <a:cs typeface="Consolas"/>
                  <a:sym typeface="Consolas"/>
                </a:rPr>
                <a:t>→ FK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48640" y="9601200"/>
            <a:ext cx="17190720" cy="548640"/>
            <a:chOff x="0" y="0"/>
            <a:chExt cx="2292096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66675"/>
              <a:ext cx="22920960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i="1">
                  <a:solidFill>
                    <a:srgbClr val="64748B"/>
                  </a:solidFill>
                  <a:latin typeface="Agrandir Italics"/>
                  <a:ea typeface="Agrandir Italics"/>
                  <a:cs typeface="Agrandir Italics"/>
                  <a:sym typeface="Agrandir Italics"/>
                </a:rPr>
                <a:t>PK = Primary Key   |   FK = Foreign Key   |   All KPIs computed via SQL aggregations</a:t>
              </a:r>
            </a:p>
          </p:txBody>
        </p:sp>
      </p:grpSp>
      <p:sp>
        <p:nvSpPr>
          <p:cNvPr id="79" name="Freeform 79"/>
          <p:cNvSpPr/>
          <p:nvPr/>
        </p:nvSpPr>
        <p:spPr>
          <a:xfrm>
            <a:off x="16189041" y="418297"/>
            <a:ext cx="1789587" cy="1006643"/>
          </a:xfrm>
          <a:custGeom>
            <a:avLst/>
            <a:gdLst/>
            <a:ahLst/>
            <a:cxnLst/>
            <a:rect l="l" t="t" r="r" b="b"/>
            <a:pathLst>
              <a:path w="1789587" h="1006643">
                <a:moveTo>
                  <a:pt x="0" y="0"/>
                </a:moveTo>
                <a:lnTo>
                  <a:pt x="1789587" y="0"/>
                </a:lnTo>
                <a:lnTo>
                  <a:pt x="1789587" y="1006643"/>
                </a:lnTo>
                <a:lnTo>
                  <a:pt x="0" y="1006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20240"/>
            <a:chOff x="0" y="0"/>
            <a:chExt cx="24384000" cy="2560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60320"/>
            </a:xfrm>
            <a:custGeom>
              <a:avLst/>
              <a:gdLst/>
              <a:ahLst/>
              <a:cxnLst/>
              <a:rect l="l" t="t" r="r" b="b"/>
              <a:pathLst>
                <a:path w="24384000" h="2560320">
                  <a:moveTo>
                    <a:pt x="0" y="0"/>
                  </a:moveTo>
                  <a:lnTo>
                    <a:pt x="24384000" y="0"/>
                  </a:lnTo>
                  <a:lnTo>
                    <a:pt x="243840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B2A4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920240"/>
            <a:ext cx="18288000" cy="109728"/>
            <a:chOff x="0" y="0"/>
            <a:chExt cx="24384000" cy="1463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46304"/>
            </a:xfrm>
            <a:custGeom>
              <a:avLst/>
              <a:gdLst/>
              <a:ahLst/>
              <a:cxnLst/>
              <a:rect l="l" t="t" r="r" b="b"/>
              <a:pathLst>
                <a:path w="24384000" h="146304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0"/>
            <a:ext cx="16824960" cy="1920240"/>
            <a:chOff x="0" y="0"/>
            <a:chExt cx="22433280" cy="2560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433280" cy="2560320"/>
            </a:xfrm>
            <a:custGeom>
              <a:avLst/>
              <a:gdLst/>
              <a:ahLst/>
              <a:cxnLst/>
              <a:rect l="l" t="t" r="r" b="b"/>
              <a:pathLst>
                <a:path w="22433280" h="2560320">
                  <a:moveTo>
                    <a:pt x="0" y="0"/>
                  </a:moveTo>
                  <a:lnTo>
                    <a:pt x="22433280" y="0"/>
                  </a:lnTo>
                  <a:lnTo>
                    <a:pt x="224332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726" b="-1207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42875"/>
              <a:ext cx="22433280" cy="2703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Exploiting the Data – SQL Queries &amp; Dataset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8640" y="2377440"/>
            <a:ext cx="10424160" cy="7315200"/>
            <a:chOff x="0" y="0"/>
            <a:chExt cx="13898880" cy="9753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98880" cy="9753600"/>
            </a:xfrm>
            <a:custGeom>
              <a:avLst/>
              <a:gdLst/>
              <a:ahLst/>
              <a:cxnLst/>
              <a:rect l="l" t="t" r="r" b="b"/>
              <a:pathLst>
                <a:path w="13898880" h="9753600">
                  <a:moveTo>
                    <a:pt x="0" y="0"/>
                  </a:moveTo>
                  <a:lnTo>
                    <a:pt x="13898880" y="0"/>
                  </a:lnTo>
                  <a:lnTo>
                    <a:pt x="13898880" y="9753600"/>
                  </a:lnTo>
                  <a:lnTo>
                    <a:pt x="0" y="975360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 l="-12378" r="-12378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2960" y="2523744"/>
            <a:ext cx="9875520" cy="640080"/>
            <a:chOff x="0" y="0"/>
            <a:chExt cx="13167360" cy="8534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167361" cy="853440"/>
            </a:xfrm>
            <a:custGeom>
              <a:avLst/>
              <a:gdLst/>
              <a:ahLst/>
              <a:cxnLst/>
              <a:rect l="l" t="t" r="r" b="b"/>
              <a:pathLst>
                <a:path w="13167361" h="853440">
                  <a:moveTo>
                    <a:pt x="0" y="0"/>
                  </a:moveTo>
                  <a:lnTo>
                    <a:pt x="13167361" y="0"/>
                  </a:lnTo>
                  <a:lnTo>
                    <a:pt x="131673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626" b="-2506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316736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C9A84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Key SQL Queries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31520" y="3291840"/>
            <a:ext cx="10058400" cy="6374514"/>
            <a:chOff x="0" y="0"/>
            <a:chExt cx="13411200" cy="84993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411200" cy="8499352"/>
            </a:xfrm>
            <a:custGeom>
              <a:avLst/>
              <a:gdLst/>
              <a:ahLst/>
              <a:cxnLst/>
              <a:rect l="l" t="t" r="r" b="b"/>
              <a:pathLst>
                <a:path w="13411200" h="8499352">
                  <a:moveTo>
                    <a:pt x="0" y="0"/>
                  </a:moveTo>
                  <a:lnTo>
                    <a:pt x="13411200" y="0"/>
                  </a:lnTo>
                  <a:lnTo>
                    <a:pt x="13411200" y="8499352"/>
                  </a:lnTo>
                  <a:lnTo>
                    <a:pt x="0" y="8499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148" r="-28148" b="389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411200" cy="85374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-- RevPAR by hotel &amp; month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SELECT h.name,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      DATE_TRUNC('month', r.check_in) AS month,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      SUM(r.total_revenue) /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        COUNT(DISTINCT ro.room_id) AS RevPAR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FROM reservations r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JOIN rooms ro ON ro.room_id = r.room_id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JOIN hotels h ON h.hotel_id = ro.hotel_id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WHERE r.is_cancelled = FALSE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GROUP BY 1, 2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ORDER BY 2, RevPAR DESC;</a:t>
              </a:r>
            </a:p>
            <a:p>
              <a:pPr algn="l">
                <a:lnSpc>
                  <a:spcPts val="2280"/>
                </a:lnSpc>
              </a:pPr>
              <a:endParaRPr lang="en-US" sz="1900">
                <a:solidFill>
                  <a:srgbClr val="2E641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-- Revenue by booking channel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SELECT channel,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      COUNT(*)          AS bookings,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      SUM(total_revenue) AS total_rev,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      AVG(total_revenue) AS avg_rev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FROM reservations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WHERE is_cancelled = FALSE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GROUP BY channel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E6417"/>
                  </a:solidFill>
                  <a:latin typeface="Consolas"/>
                  <a:ea typeface="Consolas"/>
                  <a:cs typeface="Consolas"/>
                  <a:sym typeface="Consolas"/>
                </a:rPr>
                <a:t>ORDER BY total_rev DESC;</a:t>
              </a:r>
            </a:p>
            <a:p>
              <a:pPr algn="l">
                <a:lnSpc>
                  <a:spcPts val="2279"/>
                </a:lnSpc>
              </a:pPr>
              <a:endParaRPr lang="en-US" sz="1900">
                <a:solidFill>
                  <a:srgbClr val="2E641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338560" y="2377440"/>
            <a:ext cx="6492240" cy="3291840"/>
            <a:chOff x="0" y="0"/>
            <a:chExt cx="8656320" cy="43891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56320" cy="4389120"/>
            </a:xfrm>
            <a:custGeom>
              <a:avLst/>
              <a:gdLst/>
              <a:ahLst/>
              <a:cxnLst/>
              <a:rect l="l" t="t" r="r" b="b"/>
              <a:pathLst>
                <a:path w="8656320" h="4389120">
                  <a:moveTo>
                    <a:pt x="0" y="0"/>
                  </a:moveTo>
                  <a:lnTo>
                    <a:pt x="8656320" y="0"/>
                  </a:lnTo>
                  <a:lnTo>
                    <a:pt x="86563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338560" y="2377440"/>
            <a:ext cx="6492240" cy="731520"/>
            <a:chOff x="0" y="0"/>
            <a:chExt cx="8656320" cy="9753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656320" cy="975360"/>
            </a:xfrm>
            <a:custGeom>
              <a:avLst/>
              <a:gdLst/>
              <a:ahLst/>
              <a:cxnLst/>
              <a:rect l="l" t="t" r="r" b="b"/>
              <a:pathLst>
                <a:path w="8656320" h="975360">
                  <a:moveTo>
                    <a:pt x="0" y="0"/>
                  </a:moveTo>
                  <a:lnTo>
                    <a:pt x="8656320" y="0"/>
                  </a:lnTo>
                  <a:lnTo>
                    <a:pt x="86563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338560" y="2377440"/>
            <a:ext cx="6492240" cy="731520"/>
            <a:chOff x="0" y="0"/>
            <a:chExt cx="8656320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56320" cy="975360"/>
            </a:xfrm>
            <a:custGeom>
              <a:avLst/>
              <a:gdLst/>
              <a:ahLst/>
              <a:cxnLst/>
              <a:rect l="l" t="t" r="r" b="b"/>
              <a:pathLst>
                <a:path w="8656320" h="975360">
                  <a:moveTo>
                    <a:pt x="0" y="0"/>
                  </a:moveTo>
                  <a:lnTo>
                    <a:pt x="8656320" y="0"/>
                  </a:lnTo>
                  <a:lnTo>
                    <a:pt x="8656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929" b="-122929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8656320" cy="1051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Dataset Used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612880" y="3255264"/>
            <a:ext cx="5943600" cy="2194560"/>
            <a:chOff x="0" y="0"/>
            <a:chExt cx="7924800" cy="29260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924800" cy="2926080"/>
            </a:xfrm>
            <a:custGeom>
              <a:avLst/>
              <a:gdLst/>
              <a:ahLst/>
              <a:cxnLst/>
              <a:rect l="l" t="t" r="r" b="b"/>
              <a:pathLst>
                <a:path w="7924800" h="2926080">
                  <a:moveTo>
                    <a:pt x="0" y="0"/>
                  </a:moveTo>
                  <a:lnTo>
                    <a:pt x="7924800" y="0"/>
                  </a:lnTo>
                  <a:lnTo>
                    <a:pt x="7924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1" b="-277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7924800" cy="2992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Source: </a:t>
              </a: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Kaggle – Hotel Booking Demand</a:t>
              </a:r>
            </a:p>
            <a:p>
              <a:pPr algn="l">
                <a:lnSpc>
                  <a:spcPts val="2640"/>
                </a:lnSpc>
              </a:pPr>
              <a:endParaRPr lang="en-US" sz="2200">
                <a:solidFill>
                  <a:srgbClr val="64748B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119,390 records</a:t>
              </a:r>
            </a:p>
            <a:p>
              <a:pPr algn="l">
                <a:lnSpc>
                  <a:spcPts val="2640"/>
                </a:lnSpc>
              </a:pPr>
              <a:endParaRPr lang="en-US" sz="2200">
                <a:solidFill>
                  <a:srgbClr val="64748B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Columns: room type, lead time,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channel, ADR, cancellations…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338560" y="5943600"/>
            <a:ext cx="6492240" cy="3657600"/>
            <a:chOff x="0" y="0"/>
            <a:chExt cx="8656320" cy="4876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656320" cy="4876800"/>
            </a:xfrm>
            <a:custGeom>
              <a:avLst/>
              <a:gdLst/>
              <a:ahLst/>
              <a:cxnLst/>
              <a:rect l="l" t="t" r="r" b="b"/>
              <a:pathLst>
                <a:path w="8656320" h="4876800">
                  <a:moveTo>
                    <a:pt x="0" y="0"/>
                  </a:moveTo>
                  <a:lnTo>
                    <a:pt x="8656320" y="0"/>
                  </a:lnTo>
                  <a:lnTo>
                    <a:pt x="86563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338560" y="5943600"/>
            <a:ext cx="6492240" cy="731520"/>
            <a:chOff x="0" y="0"/>
            <a:chExt cx="8656320" cy="9753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656320" cy="975360"/>
            </a:xfrm>
            <a:custGeom>
              <a:avLst/>
              <a:gdLst/>
              <a:ahLst/>
              <a:cxnLst/>
              <a:rect l="l" t="t" r="r" b="b"/>
              <a:pathLst>
                <a:path w="8656320" h="975360">
                  <a:moveTo>
                    <a:pt x="0" y="0"/>
                  </a:moveTo>
                  <a:lnTo>
                    <a:pt x="8656320" y="0"/>
                  </a:lnTo>
                  <a:lnTo>
                    <a:pt x="86563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B2A4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338560" y="5943600"/>
            <a:ext cx="6492240" cy="731520"/>
            <a:chOff x="0" y="0"/>
            <a:chExt cx="8656320" cy="9753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56320" cy="975360"/>
            </a:xfrm>
            <a:custGeom>
              <a:avLst/>
              <a:gdLst/>
              <a:ahLst/>
              <a:cxnLst/>
              <a:rect l="l" t="t" r="r" b="b"/>
              <a:pathLst>
                <a:path w="8656320" h="975360">
                  <a:moveTo>
                    <a:pt x="0" y="0"/>
                  </a:moveTo>
                  <a:lnTo>
                    <a:pt x="8656320" y="0"/>
                  </a:lnTo>
                  <a:lnTo>
                    <a:pt x="8656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929" b="-122929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8656320" cy="1051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C9A84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Example Insights Unlocked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612880" y="6877050"/>
            <a:ext cx="5943600" cy="2560320"/>
            <a:chOff x="0" y="0"/>
            <a:chExt cx="7924800" cy="34137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924800" cy="3413760"/>
            </a:xfrm>
            <a:custGeom>
              <a:avLst/>
              <a:gdLst/>
              <a:ahLst/>
              <a:cxnLst/>
              <a:rect l="l" t="t" r="r" b="b"/>
              <a:pathLst>
                <a:path w="7924800" h="3413760">
                  <a:moveTo>
                    <a:pt x="0" y="0"/>
                  </a:moveTo>
                  <a:lnTo>
                    <a:pt x="7924800" y="0"/>
                  </a:lnTo>
                  <a:lnTo>
                    <a:pt x="79248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9" r="-5269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7924800" cy="3480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Direct bookings → +18% ADR</a:t>
              </a:r>
            </a:p>
            <a:p>
              <a:pPr algn="l">
                <a:lnSpc>
                  <a:spcPts val="2640"/>
                </a:lnSpc>
              </a:pPr>
              <a:endParaRPr lang="en-US" sz="2200" dirty="0">
                <a:solidFill>
                  <a:srgbClr val="64748B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July &amp; August peak RevPAR</a:t>
              </a:r>
            </a:p>
            <a:p>
              <a:pPr algn="l">
                <a:lnSpc>
                  <a:spcPts val="2640"/>
                </a:lnSpc>
              </a:pPr>
              <a:endParaRPr lang="en-US" sz="2200" dirty="0">
                <a:solidFill>
                  <a:srgbClr val="64748B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Loyalty tiers cut cancellations</a:t>
              </a:r>
            </a:p>
            <a:p>
              <a:pPr algn="l">
                <a:lnSpc>
                  <a:spcPts val="2640"/>
                </a:lnSpc>
              </a:pPr>
              <a:endParaRPr lang="en-US" sz="2200" dirty="0">
                <a:solidFill>
                  <a:srgbClr val="64748B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Suite rooms </a:t>
              </a:r>
              <a:r>
                <a:rPr lang="en-US" sz="2200" dirty="0" err="1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under-priced</a:t>
              </a:r>
              <a:r>
                <a:rPr lang="en-US" sz="2200" dirty="0">
                  <a:solidFill>
                    <a:srgbClr val="64748B"/>
                  </a:solidFill>
                  <a:latin typeface="Agrandir"/>
                  <a:ea typeface="Agrandir"/>
                  <a:cs typeface="Agrandir"/>
                  <a:sym typeface="Agrandir"/>
                </a:rPr>
                <a:t> vs demand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16189041" y="418297"/>
            <a:ext cx="1789587" cy="1006643"/>
          </a:xfrm>
          <a:custGeom>
            <a:avLst/>
            <a:gdLst/>
            <a:ahLst/>
            <a:cxnLst/>
            <a:rect l="l" t="t" r="r" b="b"/>
            <a:pathLst>
              <a:path w="1789587" h="1006643">
                <a:moveTo>
                  <a:pt x="0" y="0"/>
                </a:moveTo>
                <a:lnTo>
                  <a:pt x="1789587" y="0"/>
                </a:lnTo>
                <a:lnTo>
                  <a:pt x="1789587" y="1006643"/>
                </a:lnTo>
                <a:lnTo>
                  <a:pt x="0" y="1006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9184" cy="10287000"/>
            <a:chOff x="0" y="0"/>
            <a:chExt cx="438912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8912" cy="13716000"/>
            </a:xfrm>
            <a:custGeom>
              <a:avLst/>
              <a:gdLst/>
              <a:ahLst/>
              <a:cxnLst/>
              <a:rect l="l" t="t" r="r" b="b"/>
              <a:pathLst>
                <a:path w="438912" h="13716000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05840" y="914400"/>
            <a:ext cx="16459200" cy="1463040"/>
            <a:chOff x="0" y="0"/>
            <a:chExt cx="21945600" cy="1950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950720"/>
            </a:xfrm>
            <a:custGeom>
              <a:avLst/>
              <a:gdLst/>
              <a:ahLst/>
              <a:cxnLst/>
              <a:rect l="l" t="t" r="r" b="b"/>
              <a:pathLst>
                <a:path w="21945600" h="195072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80975"/>
              <a:ext cx="21945600" cy="21316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Conclusion &amp; Key Takeaways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5840" y="2377440"/>
            <a:ext cx="15544800" cy="73152"/>
            <a:chOff x="0" y="0"/>
            <a:chExt cx="20726400" cy="975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26400" cy="97536"/>
            </a:xfrm>
            <a:custGeom>
              <a:avLst/>
              <a:gdLst/>
              <a:ahLst/>
              <a:cxnLst/>
              <a:rect l="l" t="t" r="r" b="b"/>
              <a:pathLst>
                <a:path w="20726400" h="97536">
                  <a:moveTo>
                    <a:pt x="0" y="0"/>
                  </a:moveTo>
                  <a:lnTo>
                    <a:pt x="20726400" y="0"/>
                  </a:lnTo>
                  <a:lnTo>
                    <a:pt x="207264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5840" y="2834640"/>
            <a:ext cx="914400" cy="914400"/>
            <a:chOff x="0" y="0"/>
            <a:chExt cx="1219200" cy="121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5840" y="2834640"/>
            <a:ext cx="914400" cy="914400"/>
            <a:chOff x="0" y="0"/>
            <a:chExt cx="1219200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219200" cy="131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194560" y="2871216"/>
            <a:ext cx="15179040" cy="841248"/>
            <a:chOff x="0" y="0"/>
            <a:chExt cx="20238720" cy="11216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238720" cy="1121664"/>
            </a:xfrm>
            <a:custGeom>
              <a:avLst/>
              <a:gdLst/>
              <a:ahLst/>
              <a:cxnLst/>
              <a:rect l="l" t="t" r="r" b="b"/>
              <a:pathLst>
                <a:path w="20238720" h="1121664">
                  <a:moveTo>
                    <a:pt x="0" y="0"/>
                  </a:moveTo>
                  <a:lnTo>
                    <a:pt x="20238720" y="0"/>
                  </a:lnTo>
                  <a:lnTo>
                    <a:pt x="202387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577" b="-3015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20238720" cy="11978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5F3EE"/>
                  </a:solidFill>
                  <a:latin typeface="Agrandir"/>
                  <a:ea typeface="Agrandir"/>
                  <a:cs typeface="Agrandir"/>
                  <a:sym typeface="Agrandir"/>
                </a:rPr>
                <a:t>Marriott needs a relational DBMS to link reservations, rooms, hotels and financial KPIs.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5840" y="4151376"/>
            <a:ext cx="914400" cy="914400"/>
            <a:chOff x="0" y="0"/>
            <a:chExt cx="121920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05840" y="4151376"/>
            <a:ext cx="914400" cy="914400"/>
            <a:chOff x="0" y="0"/>
            <a:chExt cx="121920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1219200" cy="131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94560" y="4187952"/>
            <a:ext cx="15179040" cy="841248"/>
            <a:chOff x="0" y="0"/>
            <a:chExt cx="20238720" cy="112166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238720" cy="1121664"/>
            </a:xfrm>
            <a:custGeom>
              <a:avLst/>
              <a:gdLst/>
              <a:ahLst/>
              <a:cxnLst/>
              <a:rect l="l" t="t" r="r" b="b"/>
              <a:pathLst>
                <a:path w="20238720" h="1121664">
                  <a:moveTo>
                    <a:pt x="0" y="0"/>
                  </a:moveTo>
                  <a:lnTo>
                    <a:pt x="20238720" y="0"/>
                  </a:lnTo>
                  <a:lnTo>
                    <a:pt x="202387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577" b="-3015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20238720" cy="11978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5F3EE"/>
                  </a:solidFill>
                  <a:latin typeface="Agrandir"/>
                  <a:ea typeface="Agrandir"/>
                  <a:cs typeface="Agrandir"/>
                  <a:sym typeface="Agrandir"/>
                </a:rPr>
                <a:t>PostgreSQL is the ideal choice: free, powerful SQL aggregations, Python-compatible.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05840" y="5468112"/>
            <a:ext cx="914400" cy="914400"/>
            <a:chOff x="0" y="0"/>
            <a:chExt cx="12192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05840" y="5468112"/>
            <a:ext cx="914400" cy="914400"/>
            <a:chOff x="0" y="0"/>
            <a:chExt cx="121920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219200" cy="131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194560" y="5504688"/>
            <a:ext cx="15179040" cy="841248"/>
            <a:chOff x="0" y="0"/>
            <a:chExt cx="20238720" cy="112166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238720" cy="1121664"/>
            </a:xfrm>
            <a:custGeom>
              <a:avLst/>
              <a:gdLst/>
              <a:ahLst/>
              <a:cxnLst/>
              <a:rect l="l" t="t" r="r" b="b"/>
              <a:pathLst>
                <a:path w="20238720" h="1121664">
                  <a:moveTo>
                    <a:pt x="0" y="0"/>
                  </a:moveTo>
                  <a:lnTo>
                    <a:pt x="20238720" y="0"/>
                  </a:lnTo>
                  <a:lnTo>
                    <a:pt x="202387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577" b="-3015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20238720" cy="11978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5F3EE"/>
                  </a:solidFill>
                  <a:latin typeface="Agrandir"/>
                  <a:ea typeface="Agrandir"/>
                  <a:cs typeface="Agrandir"/>
                  <a:sym typeface="Agrandir"/>
                </a:rPr>
                <a:t>My schema enables direct computation of RevPAR, ADR and occupancy rate from raw data.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5840" y="6784848"/>
            <a:ext cx="914400" cy="914400"/>
            <a:chOff x="0" y="0"/>
            <a:chExt cx="1219200" cy="1219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05840" y="6784848"/>
            <a:ext cx="914400" cy="914400"/>
            <a:chOff x="0" y="0"/>
            <a:chExt cx="1219200" cy="1219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0"/>
              <a:ext cx="1219200" cy="131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194560" y="6821424"/>
            <a:ext cx="15179040" cy="841248"/>
            <a:chOff x="0" y="0"/>
            <a:chExt cx="20238720" cy="112166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238720" cy="1121664"/>
            </a:xfrm>
            <a:custGeom>
              <a:avLst/>
              <a:gdLst/>
              <a:ahLst/>
              <a:cxnLst/>
              <a:rect l="l" t="t" r="r" b="b"/>
              <a:pathLst>
                <a:path w="20238720" h="1121664">
                  <a:moveTo>
                    <a:pt x="0" y="0"/>
                  </a:moveTo>
                  <a:lnTo>
                    <a:pt x="20238720" y="0"/>
                  </a:lnTo>
                  <a:lnTo>
                    <a:pt x="202387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577" b="-3015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76200"/>
              <a:ext cx="20238720" cy="11978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5F3EE"/>
                  </a:solidFill>
                  <a:latin typeface="Agrandir"/>
                  <a:ea typeface="Agrandir"/>
                  <a:cs typeface="Agrandir"/>
                  <a:sym typeface="Agrandir"/>
                </a:rPr>
                <a:t>Booking channel analysis shows direct bookings are 18% more profitable than OTAs.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05840" y="8101584"/>
            <a:ext cx="914400" cy="914400"/>
            <a:chOff x="0" y="0"/>
            <a:chExt cx="1219200" cy="1219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9A8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05840" y="8101584"/>
            <a:ext cx="914400" cy="914400"/>
            <a:chOff x="0" y="0"/>
            <a:chExt cx="1219200" cy="1219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0"/>
              <a:ext cx="1219200" cy="131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B2A4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5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194560" y="8138160"/>
            <a:ext cx="15179040" cy="841248"/>
            <a:chOff x="0" y="0"/>
            <a:chExt cx="20238720" cy="11216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238720" cy="1121664"/>
            </a:xfrm>
            <a:custGeom>
              <a:avLst/>
              <a:gdLst/>
              <a:ahLst/>
              <a:cxnLst/>
              <a:rect l="l" t="t" r="r" b="b"/>
              <a:pathLst>
                <a:path w="20238720" h="1121664">
                  <a:moveTo>
                    <a:pt x="0" y="0"/>
                  </a:moveTo>
                  <a:lnTo>
                    <a:pt x="20238720" y="0"/>
                  </a:lnTo>
                  <a:lnTo>
                    <a:pt x="202387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577" b="-3015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76200"/>
              <a:ext cx="20238720" cy="11978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5F3EE"/>
                  </a:solidFill>
                  <a:latin typeface="Agrandir"/>
                  <a:ea typeface="Agrandir"/>
                  <a:cs typeface="Agrandir"/>
                  <a:sym typeface="Agrandir"/>
                </a:rPr>
                <a:t>A well-designed DBMS is not just storage — it is a financial decision-support tool.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05840" y="9326880"/>
            <a:ext cx="16459200" cy="640080"/>
            <a:chOff x="0" y="0"/>
            <a:chExt cx="21945600" cy="8534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76200"/>
              <a:ext cx="2194560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 i="1">
                  <a:solidFill>
                    <a:srgbClr val="C9A84C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Thank you — Questions?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16189041" y="418297"/>
            <a:ext cx="1789587" cy="1006643"/>
          </a:xfrm>
          <a:custGeom>
            <a:avLst/>
            <a:gdLst/>
            <a:ahLst/>
            <a:cxnLst/>
            <a:rect l="l" t="t" r="r" b="b"/>
            <a:pathLst>
              <a:path w="1789587" h="1006643">
                <a:moveTo>
                  <a:pt x="0" y="0"/>
                </a:moveTo>
                <a:lnTo>
                  <a:pt x="1789587" y="0"/>
                </a:lnTo>
                <a:lnTo>
                  <a:pt x="1789587" y="1006643"/>
                </a:lnTo>
                <a:lnTo>
                  <a:pt x="0" y="1006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688</Words>
  <Application>Microsoft Office PowerPoint</Application>
  <PresentationFormat>Personnalisé</PresentationFormat>
  <Paragraphs>161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Consolas</vt:lpstr>
      <vt:lpstr>Arial</vt:lpstr>
      <vt:lpstr>Agrandir Italics</vt:lpstr>
      <vt:lpstr>Agrandir</vt:lpstr>
      <vt:lpstr>Agrandir Bold</vt:lpstr>
      <vt:lpstr>Calibri</vt:lpstr>
      <vt:lpstr>Agrandir Bold Italics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Marriott_Hotel_Revenue_Analytics.pptx</dc:title>
  <cp:lastModifiedBy>Tanguy Aspart</cp:lastModifiedBy>
  <cp:revision>2</cp:revision>
  <dcterms:created xsi:type="dcterms:W3CDTF">2006-08-16T00:00:00Z</dcterms:created>
  <dcterms:modified xsi:type="dcterms:W3CDTF">2026-04-09T16:04:34Z</dcterms:modified>
  <dc:identifier>DAHGXQqLrUA</dc:identifier>
</cp:coreProperties>
</file>